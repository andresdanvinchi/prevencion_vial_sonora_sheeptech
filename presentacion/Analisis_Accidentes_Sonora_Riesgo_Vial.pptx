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Análisis de accidentes de tránsito en Sonora para identificar patrones de riesgo vial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84831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FE8F0"/>
                </a:solidFill>
                <a:latin typeface="Aptos"/>
              </a:rPr>
              <a:t>Proyecto de Minería de Datos | ATUS / INEGI 2015-2024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06324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27832"/>
            <a:ext cx="18653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07034"/>
                </a:solidFill>
                <a:latin typeface="Aptos"/>
              </a:rPr>
              <a:t>183,911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30168"/>
            <a:ext cx="18653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accidentes analizados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306324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3227832"/>
            <a:ext cx="14996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5C8C"/>
                </a:solidFill>
                <a:latin typeface="Aptos"/>
              </a:rPr>
              <a:t>2015-2024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3630168"/>
            <a:ext cx="1499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periodo de estudio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792" y="306324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3227832"/>
            <a:ext cx="159105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07E59"/>
                </a:solidFill>
                <a:latin typeface="Aptos"/>
              </a:rPr>
              <a:t>Prevención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3" y="3630168"/>
            <a:ext cx="1591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enfoque final</a:t>
            </a:r>
          </a:p>
        </p:txBody>
      </p:sp>
      <p:pic>
        <p:nvPicPr>
          <p:cNvPr id="13" name="Picture 12" descr="accidentes_por_a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011680"/>
            <a:ext cx="416052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08076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2DAE1"/>
                </a:solidFill>
                <a:latin typeface="Aptos"/>
              </a:rPr>
              <a:t>Integrantes: [nombres]   |   Materia: [materia]   |   Fecha: [fecha]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Los accidentes viales requieren análisis con enfoque preventivo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886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Los accidentes generan daños materiales, lesiones y fallecimientos.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El riesgo no se distribuye igual por municipio, horario o tipo de accidente.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La minería de datos ayuda a convertir registros históricos en evidencia para decidir mejor.</a:t>
            </a:r>
          </a:p>
        </p:txBody>
      </p:sp>
      <p:pic>
        <p:nvPicPr>
          <p:cNvPr id="8" name="Picture 7" descr="accidentes_por_a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6629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La pregunta guía conecta datos históricos con prevención vial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166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07034"/>
                </a:solidFill>
                <a:latin typeface="Aptos"/>
              </a:rPr>
              <a:t>Pregunta de investigación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212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B3C"/>
                </a:solidFill>
                <a:latin typeface="Aptos"/>
              </a:rPr>
              <a:t>¿Qué patrones de riesgo vial pueden identificarse en los accidentes de tránsito de Sonora entre 2015 y 2024?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4754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07034"/>
                </a:solidFill>
                <a:latin typeface="Aptos"/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Analizar datos ATUS de Sonora.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Detectar patrones por región, gravedad, tipo de accidente y tiempo.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Evaluar técnicas de minería de datos con utilidad preventiva.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ATUS / INEGI permite estudiar accidentes con cobertura anual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103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90472"/>
            <a:ext cx="17739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5C8C"/>
                </a:solidFill>
                <a:latin typeface="Aptos"/>
              </a:rPr>
              <a:t>10 años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92807"/>
            <a:ext cx="1773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2015 a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32588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1490472"/>
            <a:ext cx="21396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07034"/>
                </a:solidFill>
                <a:latin typeface="Aptos"/>
              </a:rPr>
              <a:t>183,911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892807"/>
            <a:ext cx="21396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registros finales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32588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1490472"/>
            <a:ext cx="17282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07E59"/>
                </a:solidFill>
                <a:latin typeface="Aptos"/>
              </a:rPr>
              <a:t>Sonora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1892807"/>
            <a:ext cx="17282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entidad 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490472"/>
            <a:ext cx="19568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43737"/>
                </a:solidFill>
                <a:latin typeface="Aptos"/>
              </a:rPr>
              <a:t>INEGI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92807"/>
            <a:ext cx="19568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fuente oficial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889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Se integraron archivos anuales ATUS.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Se filtraron registros de Sonora.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Se añadió el catálogo municipal para ubicar municipios.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El análisis se documenta en E2 y E3.</a:t>
            </a:r>
          </a:p>
        </p:txBody>
      </p:sp>
      <p:pic>
        <p:nvPicPr>
          <p:cNvPr id="20" name="Picture 19" descr="accidentes_por_a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0"/>
            <a:ext cx="50749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La limpieza deja una base confiable para el análisis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Unificación de CSV anuales 2015-2024.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Filtro de entidad Sonora con clave 26.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Eliminación de registros 'Certificado cero'.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Conversión de columnas numéricas.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Creación de variables temporales, regionales y de gravedad.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508760"/>
          <a:ext cx="5166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Paso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Carga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10 CSV anuales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Filtro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Entidad 26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Depuración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Accidentes reales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Base para EDA/E3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97880" y="365760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Aptos"/>
              </a:rPr>
              <a:t>Frase clave: la calidad del análisis depende primero de una base limpia y consistente.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Región, gravedad y víctimas traducen los datos a riesgo vial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7160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Segmentar Sonora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TOTAL_VICTIMAS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Heridos + fallecidos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GRAVE_BIN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Grave si hubo víctimas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RANGO_HORA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Madrugada, mañana, tarde, noche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INVOLUCRA_MOTO/BICI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Identificar usuarios vulnerables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43800" y="14173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La gravedad se definió por presencia de personas heridas o fallecidas.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La región permite comparar patrones territoriales.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Las variables creadas conectan el análisis con decisiones preventivas.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El análisis exploratorio muestra crecimiento reciente y concentración territorial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accidentes_por_a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212080" cy="3063240"/>
          </a:xfrm>
          <a:prstGeom prst="rect">
            <a:avLst/>
          </a:prstGeom>
        </p:spPr>
      </p:pic>
      <p:pic>
        <p:nvPicPr>
          <p:cNvPr id="8" name="Picture 7" descr="accidentes_region_grave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0352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8006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2B3C"/>
                </a:solidFill>
                <a:latin typeface="Aptos"/>
              </a:rPr>
              <a:t>Hallazgo: el pico anual aparece en 2023 con 26,557 accidentes.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TERRITORIO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Hermosillo concentra el mayor volumen; Sierra destaca por gravedad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accidentes_region_grav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8448"/>
            <a:ext cx="5852160" cy="3383280"/>
          </a:xfrm>
          <a:prstGeom prst="rect">
            <a:avLst/>
          </a:prstGeom>
        </p:spPr>
      </p:pic>
      <p:pic>
        <p:nvPicPr>
          <p:cNvPr id="8" name="Picture 7" descr="top_municip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98448"/>
            <a:ext cx="466344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98348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A2B3C"/>
                </a:solidFill>
                <a:latin typeface="Aptos"/>
              </a:defRPr>
            </a:pPr>
            <a:r>
              <a:t>Hermosillo encabeza el volumen regional con 65,252 accidentes.</a:t>
            </a:r>
          </a:p>
          <a:p>
            <a:pPr>
              <a:spcAft>
                <a:spcPts val="700"/>
              </a:spcAft>
              <a:defRPr sz="1200">
                <a:solidFill>
                  <a:srgbClr val="1A2B3C"/>
                </a:solidFill>
                <a:latin typeface="Aptos"/>
              </a:defRPr>
            </a:pPr>
            <a:r>
              <a:t>Sur y Valle y Frontera también concentran una parte importante del problema vial.</a:t>
            </a:r>
          </a:p>
          <a:p>
            <a:pPr>
              <a:spcAft>
                <a:spcPts val="700"/>
              </a:spcAft>
              <a:defRPr sz="1200">
                <a:solidFill>
                  <a:srgbClr val="1A2B3C"/>
                </a:solidFill>
                <a:latin typeface="Aptos"/>
              </a:defRPr>
            </a:pPr>
            <a:r>
              <a:t>La Sierra requiere atención porque su proporción de accidentes graves es alta.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TIPO Y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La colisión vehicular domina y la causa principal se atribuye al conductor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tipo_y_ca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4173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Tipo más común: Colisión con vehículo automotor.</a:t>
            </a:r>
          </a:p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Causa probable más frecuente: Conductor.</a:t>
            </a:r>
          </a:p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Los atropellamientos se relacionan con mayor gravedad.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TIEMPO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El horario permite ubicar ventanas críticas de prevención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heatmap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257800" cy="3520440"/>
          </a:xfrm>
          <a:prstGeom prst="rect">
            <a:avLst/>
          </a:prstGeom>
        </p:spPr>
      </p:pic>
      <p:pic>
        <p:nvPicPr>
          <p:cNvPr id="8" name="Picture 7" descr="series_mensu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257800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074920"/>
            <a:ext cx="10195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B3C"/>
                </a:solidFill>
                <a:latin typeface="Aptos"/>
              </a:rPr>
              <a:t>Horario crítico preventivo: viernes por la tarde (10,802 accidentes en el periodo).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ASOCIACIÓN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Chi-cuadrada y Cramér's V miden qué variables se relacionan con gravedad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cramers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486400" cy="3566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1463040"/>
          <a:ext cx="44805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TIPACCID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0.575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CAUSAACCI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0.239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CINTURON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0.166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0.085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ALIENTO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0.076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29400" y="3977639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Aptos"/>
              </a:rPr>
              <a:t>Interpretación: valores mayores de V indican asociación más fuerte con la gravedad; no significan causalidad directa.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APRIORI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Las reglas de asociación encuentran combinaciones frecuentes de riesgo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972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41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Antecedente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Soporte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Confianza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TIPACCID=Colisión con peatón (atropellamiento)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7.14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TIPACCID=Colisión con peatón (atropellamiento)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5.87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CAUSAACCI=Conductor, TIPACCID=Colisión con peatón (atropellamiento)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5.87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HORA_RANGO_HORA=Noche, TIPACCID=Colisión con peatón (atropellamiento)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5.87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TIPACCID=Colisión con peatón (atropellamiento)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4.56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343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Apriori no predice por sí solo; ayuda a descubrir patrones recurrentes.</a:t>
            </a:r>
          </a:p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Las reglas son útiles para traducir combinaciones de condiciones en mensajes preventivos.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Los modelos buscan anticipar si un accidente será grave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754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Variable objetivo: GRAVE_BIN.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Modelos: árbol de decisión, regresión logística y Random Forest.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Se evita fuga de información quitando heridos, muertos y clasificación original como predictores.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La evaluación considera precisión, recall, F1 y ROC-AUC.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0020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2B3C"/>
                </a:solidFill>
                <a:latin typeface="Aptos"/>
              </a:rPr>
              <a:t>En prevención, el recall importa porque interesa detectar la mayor cantidad posible de casos graves.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15468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319272"/>
            <a:ext cx="296265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5C8C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3721608"/>
            <a:ext cx="2962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Aptos"/>
              </a:rPr>
              <a:t>modelo fuerte e interpretable por importancia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Random Forest ofrece el mejor equilibrio entre desempeño e interpretación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00800" cy="38862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417320"/>
          <a:ext cx="4251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660"/>
                <a:gridCol w="708660"/>
                <a:gridCol w="708660"/>
                <a:gridCol w="708660"/>
                <a:gridCol w="708660"/>
                <a:gridCol w="708660"/>
              </a:tblGrid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Precisión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E2ED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Arbol de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Regresion logistica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2B3C"/>
                          </a:solidFill>
                          <a:latin typeface="Aptos"/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60920" y="4160520"/>
            <a:ext cx="4069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Aptos"/>
              </a:rPr>
              <a:t>La comparación no solo busca exactitud: también revisa sensibilidad ante accidentes graves.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IMPORTANCIA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Random Forest ayuda a explicar qué señales pesan más en la gravedad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640080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4173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La importancia de variables permite interpretar el modelo.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Tipo de accidente, causa, horario y región aportan señales preventivas.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No se usa como prueba causal, sino como apoyo para priorizar análisis.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El agrupamiento compara municipios con comportamientos similares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clustering_munici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812280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4173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El clustering jerárquico agrupa municipios por volumen, gravedad y patrones de usuarios vulnerables.</a:t>
            </a:r>
          </a:p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Sirve para comparar municipios aunque tengan tamaños distintos.</a:t>
            </a:r>
          </a:p>
          <a:p>
            <a:pPr>
              <a:spcAft>
                <a:spcPts val="700"/>
              </a:spcAft>
              <a:defRPr sz="1400">
                <a:solidFill>
                  <a:srgbClr val="1A2B3C"/>
                </a:solidFill>
                <a:latin typeface="Aptos"/>
              </a:defRPr>
            </a:pPr>
            <a:r>
              <a:t>Permite pensar estrategias por perfiles de riesgo, no solo por ubicación.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PREVENCIÓN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Los resultados deben convertirse en decisiones preventivas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Hermosillo: priorizar gestión de volumen y puntos de alta movilidad.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Sierra: reforzar atención a gravedad y respuesta oportuna.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Viernes por la tarde: enfocar vigilancia, campañas y control operativo.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Atropellamientos: proteger cruces, peatones y velocidad urbana.</a:t>
            </a:r>
          </a:p>
        </p:txBody>
      </p:sp>
      <p:pic>
        <p:nvPicPr>
          <p:cNvPr id="8" name="Picture 7" descr="heatmap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0749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La minería de datos permitió pasar de registros a evidencia accionable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2B3C"/>
                </a:solidFill>
                <a:latin typeface="Aptos"/>
              </a:defRPr>
            </a:pPr>
            <a:r>
              <a:t>ATUS permitió analizar diez años de accidentes de Sonora con una base oficial.</a:t>
            </a:r>
          </a:p>
          <a:p>
            <a:pPr>
              <a:spcAft>
                <a:spcPts val="700"/>
              </a:spcAft>
              <a:defRPr sz="1700">
                <a:solidFill>
                  <a:srgbClr val="1A2B3C"/>
                </a:solidFill>
                <a:latin typeface="Aptos"/>
              </a:defRPr>
            </a:pPr>
            <a:r>
              <a:t>La preparación de datos fue clave para construir región, gravedad y variables temporales.</a:t>
            </a:r>
          </a:p>
          <a:p>
            <a:pPr>
              <a:spcAft>
                <a:spcPts val="700"/>
              </a:spcAft>
              <a:defRPr sz="1700">
                <a:solidFill>
                  <a:srgbClr val="1A2B3C"/>
                </a:solidFill>
                <a:latin typeface="Aptos"/>
              </a:defRPr>
            </a:pPr>
            <a:r>
              <a:t>El análisis confirmó concentración territorial y patrones por tipo, causa y horario.</a:t>
            </a:r>
          </a:p>
          <a:p>
            <a:pPr>
              <a:spcAft>
                <a:spcPts val="700"/>
              </a:spcAft>
              <a:defRPr sz="1700">
                <a:solidFill>
                  <a:srgbClr val="1A2B3C"/>
                </a:solidFill>
                <a:latin typeface="Aptos"/>
              </a:defRPr>
            </a:pPr>
            <a:r>
              <a:t>Los modelos apoyan la identificación de accidentes graves y la interpretación de variables relevantes.</a:t>
            </a:r>
          </a:p>
          <a:p>
            <a:pPr>
              <a:spcAft>
                <a:spcPts val="700"/>
              </a:spcAft>
              <a:defRPr sz="1700">
                <a:solidFill>
                  <a:srgbClr val="1A2B3C"/>
                </a:solidFill>
                <a:latin typeface="Aptos"/>
              </a:defRPr>
            </a:pPr>
            <a:r>
              <a:t>El valor del proyecto está en orientar prevención, no solo en describir datos.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El trabajo futuro debe acercar el análisis a decisiones operativas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Incorporar ubicación geográfica más precisa si está disponible.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Cruzar con infraestructura vial, clima, tráfico y población.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Actualizar el análisis cada año para monitorear tendencias.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Diseñar tableros preventivos por región y municipio.</a:t>
            </a:r>
          </a:p>
          <a:p>
            <a:pPr>
              <a:spcAft>
                <a:spcPts val="700"/>
              </a:spcAft>
              <a:defRPr sz="1600">
                <a:solidFill>
                  <a:srgbClr val="1A2B3C"/>
                </a:solidFill>
                <a:latin typeface="Aptos"/>
              </a:defRPr>
            </a:pPr>
            <a:r>
              <a:t>Validar acciones con autoridades o especialistas en movilidad.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251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E07034"/>
                </a:solidFill>
                <a:latin typeface="Aptos"/>
              </a:rPr>
              <a:t>Siguiente paso: convertir hallazgos en intervenciones medibles.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07034"/>
                </a:solidFill>
                <a:latin typeface="Aptos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Aptos"/>
              </a:rPr>
              <a:t>Fuentes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914400" cy="36576"/>
          </a:xfrm>
          <a:prstGeom prst="rect">
            <a:avLst/>
          </a:prstGeom>
          <a:solidFill>
            <a:srgbClr val="E07034"/>
          </a:solidFill>
          <a:ln>
            <a:solidFill>
              <a:srgbClr val="E0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E6B78"/>
                </a:solidFill>
                <a:latin typeface="Aptos"/>
              </a:rPr>
              <a:t>Fuente: E1, ATUS / INEGI 2015-2024, notebooks E2 y 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6B78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INEGI. Accidentes de Tránsito Terrestre en Zonas Urbanas y Suburbanas (ATUS), 2015-2024.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E1_Propuesta/E1_Propuesta.pdf.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E2_Analisis_Exploratorio_Preprocesamiento.ipynb.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E3_Modelos_Evaluacion_ATUS_Sonora.ipynb.</a:t>
            </a:r>
          </a:p>
          <a:p>
            <a:pPr>
              <a:spcAft>
                <a:spcPts val="700"/>
              </a:spcAft>
              <a:defRPr sz="1500">
                <a:solidFill>
                  <a:srgbClr val="1A2B3C"/>
                </a:solidFill>
                <a:latin typeface="Aptos"/>
              </a:defRPr>
            </a:pPr>
            <a:r>
              <a:t>Bibliotecas: pandas, numpy, matplotlib, seaborn, scipy, scikit-learn y mlxtend.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