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0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07E76"/>
                </a:solidFill>
              </a:defRPr>
            </a:pPr>
            <a:r>
              <a:t>PORTADA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D43"/>
                </a:solidFill>
                <a:latin typeface="Aptos Display"/>
              </a:defRPr>
            </a:pPr>
            <a:r>
              <a:t>Análisis de accidentes de tránsito en Sonora para identificar patrones de riesgo vial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20240"/>
            <a:ext cx="6217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82D43"/>
                </a:solidFill>
              </a:defRPr>
            </a:pPr>
            <a:r>
              <a:t>Minería de Datos</a:t>
            </a:r>
          </a:p>
          <a:p>
            <a:pPr>
              <a:spcAft>
                <a:spcPts val="800"/>
              </a:spcAft>
              <a:defRPr sz="2000">
                <a:solidFill>
                  <a:srgbClr val="182D43"/>
                </a:solidFill>
              </a:defRPr>
            </a:pPr>
            <a:r>
              <a:t>ATUS INEGI 2015-2024</a:t>
            </a:r>
          </a:p>
          <a:p>
            <a:pPr>
              <a:spcAft>
                <a:spcPts val="800"/>
              </a:spcAft>
              <a:defRPr sz="2000">
                <a:solidFill>
                  <a:srgbClr val="182D43"/>
                </a:solidFill>
              </a:defRPr>
            </a:pPr>
            <a:r>
              <a:t>Enfoque preventivo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5212080"/>
            <a:ext cx="2240280" cy="658368"/>
          </a:xfrm>
          <a:prstGeom prst="rect">
            <a:avLst/>
          </a:prstGeom>
          <a:solidFill>
            <a:srgbClr val="20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2015-2024</a:t>
            </a:r>
          </a:p>
          <a:p>
            <a:pPr algn="ctr">
              <a:defRPr sz="850">
                <a:solidFill>
                  <a:srgbClr val="FFFFFF"/>
                </a:solidFill>
              </a:defRPr>
            </a:pPr>
            <a:r>
              <a:t>periodo</a:t>
            </a:r>
          </a:p>
        </p:txBody>
      </p:sp>
      <p:sp>
        <p:nvSpPr>
          <p:cNvPr id="8" name="Rectangle 7"/>
          <p:cNvSpPr/>
          <p:nvPr/>
        </p:nvSpPr>
        <p:spPr>
          <a:xfrm>
            <a:off x="3081528" y="5212080"/>
            <a:ext cx="2240280" cy="658368"/>
          </a:xfrm>
          <a:prstGeom prst="rect">
            <a:avLst/>
          </a:prstGeom>
          <a:solidFill>
            <a:srgbClr val="18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183,911</a:t>
            </a:r>
          </a:p>
          <a:p>
            <a:pPr algn="ctr">
              <a:defRPr sz="850">
                <a:solidFill>
                  <a:srgbClr val="FFFFFF"/>
                </a:solidFill>
              </a:defRPr>
            </a:pPr>
            <a:r>
              <a:t>accidentes reales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504688" y="5212080"/>
            <a:ext cx="2240280" cy="658368"/>
          </a:xfrm>
          <a:prstGeom prst="rect">
            <a:avLst/>
          </a:prstGeom>
          <a:solidFill>
            <a:srgbClr val="D87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Sonora</a:t>
            </a:r>
          </a:p>
          <a:p>
            <a:pPr algn="ctr">
              <a:defRPr sz="850">
                <a:solidFill>
                  <a:srgbClr val="FFFFFF"/>
                </a:solidFill>
              </a:defRPr>
            </a:pPr>
            <a:r>
              <a:t>entidad 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37376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76574"/>
                </a:solidFill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0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07E76"/>
                </a:solidFill>
              </a:defRPr>
            </a:pPr>
            <a:r>
              <a:t>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D43"/>
                </a:solidFill>
                <a:latin typeface="Aptos Display"/>
              </a:defRPr>
            </a:pPr>
            <a:r>
              <a:t>Los accidentes viales tienen patrones que pueden analizarse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9692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82D43"/>
                </a:solidFill>
              </a:defRPr>
            </a:pPr>
            <a:r>
              <a:t>Generan daños materiales, lesiones y muertes.</a:t>
            </a:r>
          </a:p>
          <a:p>
            <a:pPr>
              <a:spcAft>
                <a:spcPts val="800"/>
              </a:spcAft>
              <a:defRPr sz="1600">
                <a:solidFill>
                  <a:srgbClr val="182D43"/>
                </a:solidFill>
              </a:defRPr>
            </a:pPr>
            <a:r>
              <a:t>El riesgo no se distribuye igual entre regiones y municipios.</a:t>
            </a:r>
          </a:p>
          <a:p>
            <a:pPr>
              <a:spcAft>
                <a:spcPts val="800"/>
              </a:spcAft>
              <a:defRPr sz="1600">
                <a:solidFill>
                  <a:srgbClr val="182D43"/>
                </a:solidFill>
              </a:defRPr>
            </a:pPr>
            <a:r>
              <a:t>Analizar solo el total estatal puede ocultar focos de gravedad.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437376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76574"/>
                </a:solidFill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0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07E76"/>
                </a:solidFill>
              </a:defRPr>
            </a:pPr>
            <a:r>
              <a:t>OBJETIVO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D43"/>
                </a:solidFill>
                <a:latin typeface="Aptos Display"/>
              </a:defRPr>
            </a:pPr>
            <a:r>
              <a:t>¿Qué patrones explican el riesgo vial en Sonora?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81328"/>
            <a:ext cx="3566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82D43"/>
                </a:solidFill>
              </a:defRPr>
            </a:pPr>
            <a:r>
              <a:t>Identificar patrones de frecuencia, gravedad, causa, horario y municipio.</a:t>
            </a:r>
          </a:p>
          <a:p>
            <a:pPr>
              <a:spcAft>
                <a:spcPts val="800"/>
              </a:spcAft>
              <a:defRPr sz="1500">
                <a:solidFill>
                  <a:srgbClr val="182D43"/>
                </a:solidFill>
              </a:defRPr>
            </a:pPr>
            <a:r>
              <a:t>Usar minería de datos para orientar prevención vial.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437376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76574"/>
                </a:solidFill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0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07E76"/>
                </a:solidFill>
              </a:defRPr>
            </a:pPr>
            <a:r>
              <a:t>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D43"/>
                </a:solidFill>
                <a:latin typeface="Aptos Display"/>
              </a:defRPr>
            </a:pPr>
            <a:r>
              <a:t>Se utilizaron datos ATUS de INEGI 2015-2024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81328"/>
            <a:ext cx="3566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82D43"/>
                </a:solidFill>
              </a:defRPr>
            </a:pPr>
            <a:r>
              <a:t>Fuente oficial: Accidentes de Tránsito Terrestre en Zonas Urbanas y Suburbanas.</a:t>
            </a:r>
          </a:p>
          <a:p>
            <a:pPr>
              <a:spcAft>
                <a:spcPts val="800"/>
              </a:spcAft>
              <a:defRPr sz="1500">
                <a:solidFill>
                  <a:srgbClr val="182D43"/>
                </a:solidFill>
              </a:defRPr>
            </a:pPr>
            <a:r>
              <a:t>Filtro: Sonora, clave de entidad 26.</a:t>
            </a:r>
          </a:p>
        </p:txBody>
      </p:sp>
      <p:pic>
        <p:nvPicPr>
          <p:cNvPr id="7" name="Picture 6" descr="dataset_resum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540172"/>
            <a:ext cx="7178040" cy="42805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744200" y="6437376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76574"/>
                </a:solidFill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0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07E76"/>
                </a:solidFill>
              </a:defRPr>
            </a:pPr>
            <a:r>
              <a:t>PREPARACIÓN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D43"/>
                </a:solidFill>
                <a:latin typeface="Aptos Display"/>
              </a:defRPr>
            </a:pPr>
            <a:r>
              <a:t>Antes de analizar, los datos se limpiaron y prepararon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81328"/>
            <a:ext cx="3566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82D43"/>
                </a:solidFill>
              </a:defRPr>
            </a:pPr>
            <a:r>
              <a:t>Unión de archivos anuales.</a:t>
            </a:r>
          </a:p>
          <a:p>
            <a:pPr>
              <a:spcAft>
                <a:spcPts val="800"/>
              </a:spcAft>
              <a:defRPr sz="1500">
                <a:solidFill>
                  <a:srgbClr val="182D43"/>
                </a:solidFill>
              </a:defRPr>
            </a:pPr>
            <a:r>
              <a:t>Filtro estatal y eliminación de 'Certificado cero'.</a:t>
            </a:r>
          </a:p>
          <a:p>
            <a:pPr>
              <a:spcAft>
                <a:spcPts val="800"/>
              </a:spcAft>
              <a:defRPr sz="1500">
                <a:solidFill>
                  <a:srgbClr val="182D43"/>
                </a:solidFill>
              </a:defRPr>
            </a:pPr>
            <a:r>
              <a:t>Normalización de claves, fechas y variables numéricas.</a:t>
            </a:r>
          </a:p>
        </p:txBody>
      </p:sp>
      <p:pic>
        <p:nvPicPr>
          <p:cNvPr id="7" name="Picture 6" descr="limpieza_fluj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901632"/>
            <a:ext cx="7178040" cy="355765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744200" y="6437376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76574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0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07E76"/>
                </a:solidFill>
              </a:defRPr>
            </a:pPr>
            <a:r>
              <a:t>VARIABLES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D43"/>
                </a:solidFill>
                <a:latin typeface="Aptos Display"/>
              </a:defRPr>
            </a:pPr>
            <a:r>
              <a:t>Se crearon variables para medir riesgo y gravedad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81328"/>
            <a:ext cx="3566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82D43"/>
                </a:solidFill>
              </a:defRPr>
            </a:pPr>
            <a:r>
              <a:t>La gravedad se definió por heridos o fallecidos.</a:t>
            </a:r>
          </a:p>
          <a:p>
            <a:pPr>
              <a:spcAft>
                <a:spcPts val="800"/>
              </a:spcAft>
              <a:defRPr sz="1500">
                <a:solidFill>
                  <a:srgbClr val="182D43"/>
                </a:solidFill>
              </a:defRPr>
            </a:pPr>
            <a:r>
              <a:t>Las regiones permitieron comparar zonas con movilidad distinta.</a:t>
            </a:r>
          </a:p>
        </p:txBody>
      </p:sp>
      <p:pic>
        <p:nvPicPr>
          <p:cNvPr id="7" name="Picture 6" descr="variables_cread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2194339"/>
            <a:ext cx="7178040" cy="297224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744200" y="6437376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76574"/>
                </a:solidFill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0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07E76"/>
                </a:solidFill>
              </a:defRPr>
            </a:pPr>
            <a:r>
              <a:t>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D43"/>
                </a:solidFill>
                <a:latin typeface="Aptos Display"/>
              </a:defRPr>
            </a:pPr>
            <a:r>
              <a:t>El análisis exploratorio mostró volumen, gravedad y causas dominantes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81328"/>
            <a:ext cx="3566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82D43"/>
                </a:solidFill>
              </a:defRPr>
            </a:pPr>
            <a:r>
              <a:t>Dataset final: 183,911 accidentes.</a:t>
            </a:r>
          </a:p>
          <a:p>
            <a:pPr>
              <a:spcAft>
                <a:spcPts val="800"/>
              </a:spcAft>
              <a:defRPr sz="1500">
                <a:solidFill>
                  <a:srgbClr val="182D43"/>
                </a:solidFill>
              </a:defRPr>
            </a:pPr>
            <a:r>
              <a:t>16.99% presentan heridos o fallecidos.</a:t>
            </a:r>
          </a:p>
        </p:txBody>
      </p:sp>
      <p:pic>
        <p:nvPicPr>
          <p:cNvPr id="7" name="Picture 6" descr="eda_general_con_graved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608465"/>
            <a:ext cx="7178040" cy="414399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744200" y="6437376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76574"/>
                </a:solidFill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0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07E76"/>
                </a:solidFill>
              </a:defRPr>
            </a:pPr>
            <a:r>
              <a:t>REGIONES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D43"/>
                </a:solidFill>
                <a:latin typeface="Aptos Display"/>
              </a:defRPr>
            </a:pPr>
            <a:r>
              <a:t>Hermosillo concentra más accidentes, pero la gravedad cambia por región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81328"/>
            <a:ext cx="3566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82D43"/>
                </a:solidFill>
              </a:defRPr>
            </a:pPr>
            <a:r>
              <a:t>Hermosillo: mayor volumen.</a:t>
            </a:r>
          </a:p>
          <a:p>
            <a:pPr>
              <a:spcAft>
                <a:spcPts val="800"/>
              </a:spcAft>
              <a:defRPr sz="1500">
                <a:solidFill>
                  <a:srgbClr val="182D43"/>
                </a:solidFill>
              </a:defRPr>
            </a:pPr>
            <a:r>
              <a:t>Sur y Valle y Frontera también concentran muchos casos.</a:t>
            </a:r>
          </a:p>
          <a:p>
            <a:pPr>
              <a:spcAft>
                <a:spcPts val="800"/>
              </a:spcAft>
              <a:defRPr sz="1500">
                <a:solidFill>
                  <a:srgbClr val="182D43"/>
                </a:solidFill>
              </a:defRPr>
            </a:pPr>
            <a:r>
              <a:t>Sierra: mayor porcentaje de accidentes graves.</a:t>
            </a:r>
          </a:p>
        </p:txBody>
      </p:sp>
      <p:pic>
        <p:nvPicPr>
          <p:cNvPr id="7" name="Picture 6" descr="region_municipio_ries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2078077"/>
            <a:ext cx="7178040" cy="320476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744200" y="6437376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76574"/>
                </a:solidFill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0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07E76"/>
                </a:solidFill>
              </a:defRPr>
            </a:pPr>
            <a:r>
              <a:t>TIPO Y CAUSA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D43"/>
                </a:solidFill>
                <a:latin typeface="Aptos Display"/>
              </a:defRPr>
            </a:pPr>
            <a:r>
              <a:t>La colisión con vehículo automotor domina el registro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81328"/>
            <a:ext cx="3566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82D43"/>
                </a:solidFill>
              </a:defRPr>
            </a:pPr>
            <a:r>
              <a:t>Tipo más común: colisión con vehículo automotor.</a:t>
            </a:r>
          </a:p>
          <a:p>
            <a:pPr>
              <a:spcAft>
                <a:spcPts val="800"/>
              </a:spcAft>
              <a:defRPr sz="1500">
                <a:solidFill>
                  <a:srgbClr val="182D43"/>
                </a:solidFill>
              </a:defRPr>
            </a:pPr>
            <a:r>
              <a:t>Causa probable más frecuente: Conductor.</a:t>
            </a:r>
          </a:p>
          <a:p>
            <a:pPr>
              <a:spcAft>
                <a:spcPts val="800"/>
              </a:spcAft>
              <a:defRPr sz="1500">
                <a:solidFill>
                  <a:srgbClr val="182D43"/>
                </a:solidFill>
              </a:defRPr>
            </a:pPr>
            <a:r>
              <a:t>La prevención debe mirar conducta vial y puntos de conflicto.</a:t>
            </a:r>
          </a:p>
        </p:txBody>
      </p:sp>
      <p:pic>
        <p:nvPicPr>
          <p:cNvPr id="7" name="Picture 6" descr="tipo_causa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2143216"/>
            <a:ext cx="7178040" cy="307448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744200" y="6437376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76574"/>
                </a:solidFill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0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07E76"/>
                </a:solidFill>
              </a:defRPr>
            </a:pPr>
            <a:r>
              <a:t>TIEMPO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D43"/>
                </a:solidFill>
                <a:latin typeface="Aptos Display"/>
              </a:defRPr>
            </a:pPr>
            <a:r>
              <a:t>La tarde concentra el riesgo, con viernes como franja crítica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81328"/>
            <a:ext cx="3566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82D43"/>
                </a:solidFill>
              </a:defRPr>
            </a:pPr>
            <a:r>
              <a:t>La tarde es la franja con mayor concentración de accidentes.</a:t>
            </a:r>
          </a:p>
          <a:p>
            <a:pPr>
              <a:spcAft>
                <a:spcPts val="800"/>
              </a:spcAft>
              <a:defRPr sz="1500">
                <a:solidFill>
                  <a:srgbClr val="182D43"/>
                </a:solidFill>
              </a:defRPr>
            </a:pPr>
            <a:r>
              <a:t>Viernes por la tarde aparece como horario crítico: 10,802 accidentes.</a:t>
            </a:r>
          </a:p>
          <a:p>
            <a:pPr>
              <a:spcAft>
                <a:spcPts val="800"/>
              </a:spcAft>
              <a:defRPr sz="1500">
                <a:solidFill>
                  <a:srgbClr val="182D43"/>
                </a:solidFill>
              </a:defRPr>
            </a:pPr>
            <a:r>
              <a:t>La serie mensual muestra aumento posterior a 2020.</a:t>
            </a:r>
          </a:p>
        </p:txBody>
      </p:sp>
      <p:pic>
        <p:nvPicPr>
          <p:cNvPr id="7" name="Picture 6" descr="main_cell_51_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6090" y="1161288"/>
            <a:ext cx="4712659" cy="1901952"/>
          </a:xfrm>
          <a:prstGeom prst="rect">
            <a:avLst/>
          </a:prstGeom>
        </p:spPr>
      </p:pic>
      <p:pic>
        <p:nvPicPr>
          <p:cNvPr id="8" name="Picture 7" descr="main_cell_23_img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8330" y="3182112"/>
            <a:ext cx="6328179" cy="26974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2960" y="5440680"/>
            <a:ext cx="3063240" cy="530352"/>
          </a:xfrm>
          <a:prstGeom prst="roundRect">
            <a:avLst/>
          </a:prstGeom>
          <a:solidFill>
            <a:srgbClr val="D87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Viernes tarde: 10,802 accidentes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37376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76574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0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07E76"/>
                </a:solidFill>
              </a:defRPr>
            </a:pPr>
            <a:r>
              <a:t>ESTADÍSTICA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D43"/>
                </a:solidFill>
                <a:latin typeface="Aptos Display"/>
              </a:defRPr>
            </a:pPr>
            <a:r>
              <a:t>Las variables categóricas sí muestran asociación estadística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81328"/>
            <a:ext cx="3566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82D43"/>
                </a:solidFill>
              </a:defRPr>
            </a:pPr>
            <a:r>
              <a:t>Chi-cuadrada detectó dependencia entre variables.</a:t>
            </a:r>
          </a:p>
          <a:p>
            <a:pPr>
              <a:spcAft>
                <a:spcPts val="800"/>
              </a:spcAft>
              <a:defRPr sz="1500">
                <a:solidFill>
                  <a:srgbClr val="182D43"/>
                </a:solidFill>
              </a:defRPr>
            </a:pPr>
            <a:r>
              <a:t>Cramér’s V ayudó a medir la fuerza de asociación.</a:t>
            </a:r>
          </a:p>
        </p:txBody>
      </p:sp>
      <p:pic>
        <p:nvPicPr>
          <p:cNvPr id="7" name="Picture 6" descr="chi_cramers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2258933"/>
            <a:ext cx="7178040" cy="284305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744200" y="6437376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76574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0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07E76"/>
                </a:solidFill>
              </a:defRPr>
            </a:pPr>
            <a:r>
              <a:t>APRIORI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D43"/>
                </a:solidFill>
                <a:latin typeface="Aptos Display"/>
              </a:defRPr>
            </a:pPr>
            <a:r>
              <a:t>Los atropellamientos se asocian fuertemente con gravedad alta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81328"/>
            <a:ext cx="3566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82D43"/>
                </a:solidFill>
              </a:defRPr>
            </a:pPr>
            <a:r>
              <a:t>Las reglas de asociación señalaron combinaciones de alto riesgo.</a:t>
            </a:r>
          </a:p>
          <a:p>
            <a:pPr>
              <a:spcAft>
                <a:spcPts val="800"/>
              </a:spcAft>
              <a:defRPr sz="1500">
                <a:solidFill>
                  <a:srgbClr val="182D43"/>
                </a:solidFill>
              </a:defRPr>
            </a:pPr>
            <a:r>
              <a:t>El hallazgo tiene utilidad directa para proteger peatones.</a:t>
            </a:r>
          </a:p>
        </p:txBody>
      </p:sp>
      <p:pic>
        <p:nvPicPr>
          <p:cNvPr id="7" name="Picture 6" descr="apriori_regl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2457887"/>
            <a:ext cx="7178040" cy="244514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2960" y="5166360"/>
            <a:ext cx="3017520" cy="530352"/>
          </a:xfrm>
          <a:prstGeom prst="roundRect">
            <a:avLst/>
          </a:prstGeom>
          <a:solidFill>
            <a:srgbClr val="D87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Atropellamiento -&gt; gravedad alta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37376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76574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0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07E76"/>
                </a:solidFill>
              </a:defRPr>
            </a:pPr>
            <a:r>
              <a:t>MODELOS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D43"/>
                </a:solidFill>
                <a:latin typeface="Aptos Display"/>
              </a:defRPr>
            </a:pPr>
            <a:r>
              <a:t>Se entrenaron modelos para clasificar accidentes graves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81328"/>
            <a:ext cx="3566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82D43"/>
                </a:solidFill>
              </a:defRPr>
            </a:pPr>
            <a:r>
              <a:t>Objetivo: GRAVE_BIN.</a:t>
            </a:r>
          </a:p>
          <a:p>
            <a:pPr>
              <a:defRPr sz="1500">
                <a:solidFill>
                  <a:srgbClr val="182D43"/>
                </a:solidFill>
              </a:defRPr>
            </a:pPr>
            <a:r>
              <a:t>Modelos: KNN l?nea base, ?rbol IF-THEN, Regresi?n Log?stica y Random Forest.</a:t>
            </a:r>
          </a:p>
          <a:p>
            <a:pPr>
              <a:defRPr sz="1500">
                <a:solidFill>
                  <a:srgbClr val="182D43"/>
                </a:solidFill>
              </a:defRPr>
            </a:pPr>
            <a:r>
              <a:t>Se evit? fuga de informaci?n.</a:t>
            </a:r>
          </a:p>
        </p:txBody>
      </p:sp>
      <p:pic>
        <p:nvPicPr>
          <p:cNvPr id="7" name="Picture 6" descr="modelos_pipeline_graved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2118526"/>
            <a:ext cx="7178040" cy="312386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744200" y="6437376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76574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0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07E76"/>
                </a:solidFill>
              </a:defRPr>
            </a:pPr>
            <a:r>
              <a:t>COMPARACIÓN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D43"/>
                </a:solidFill>
                <a:latin typeface="Aptos Display"/>
              </a:defRPr>
            </a:pPr>
            <a:r>
              <a:t>Random Forest logró el mejor equilibrio para gravedad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81328"/>
            <a:ext cx="3566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82D43"/>
                </a:solidFill>
              </a:defRPr>
            </a:pPr>
            <a:r>
              <a:t>KNN y ?rbol IF-THEN cubren los m?todos del curso.</a:t>
            </a:r>
          </a:p>
          <a:p>
            <a:pPr>
              <a:defRPr sz="1400">
                <a:solidFill>
                  <a:srgbClr val="182D43"/>
                </a:solidFill>
              </a:defRPr>
            </a:pPr>
            <a:r>
              <a:t>Random Forest conserva el mejor balance general.</a:t>
            </a:r>
          </a:p>
          <a:p>
            <a:pPr>
              <a:defRPr sz="1400">
                <a:solidFill>
                  <a:srgbClr val="182D43"/>
                </a:solidFill>
              </a:defRPr>
            </a:pPr>
            <a:r>
              <a:t>Regresi?n Log?stica queda como alternativa interpretable con alto recall.</a:t>
            </a:r>
          </a:p>
        </p:txBody>
      </p:sp>
      <p:pic>
        <p:nvPicPr>
          <p:cNvPr id="7" name="Picture 6" descr="modelos_compar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2457887"/>
            <a:ext cx="7178040" cy="244514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744200" y="6437376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76574"/>
                </a:solidFill>
              </a:defRPr>
            </a:pPr>
            <a: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5166360"/>
            <a:ext cx="3749039" cy="658368"/>
          </a:xfrm>
          <a:prstGeom prst="roundRect">
            <a:avLst/>
          </a:prstGeom>
          <a:solidFill>
            <a:srgbClr val="D87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IF condiciones del ?rbol -&gt; THEN gravedad probable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0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07E76"/>
                </a:solidFill>
              </a:defRPr>
            </a:pPr>
            <a:r>
              <a:t>IMPORTANCIA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D43"/>
                </a:solidFill>
                <a:latin typeface="Aptos Display"/>
              </a:defRPr>
            </a:pPr>
            <a:r>
              <a:t>El tipo de accidente fue una señal clave para el modelo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81328"/>
            <a:ext cx="3566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82D43"/>
                </a:solidFill>
              </a:defRPr>
            </a:pPr>
            <a:r>
              <a:t>Variables importantes: tipo de accidente, atropellamiento, motocicleta, veh?culos, edad y regi?n.</a:t>
            </a:r>
          </a:p>
          <a:p>
            <a:pPr>
              <a:defRPr sz="1400">
                <a:solidFill>
                  <a:srgbClr val="182D43"/>
                </a:solidFill>
              </a:defRPr>
            </a:pPr>
            <a:r>
              <a:t>La regla IF-THEN explica una ruta simple; la importancia orienta acciones preventivas.</a:t>
            </a:r>
          </a:p>
        </p:txBody>
      </p:sp>
      <p:pic>
        <p:nvPicPr>
          <p:cNvPr id="7" name="Picture 6" descr="e3_cell_20_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415" y="1234440"/>
            <a:ext cx="6140009" cy="4892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744200" y="6437376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76574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0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07E76"/>
                </a:solidFill>
              </a:defRPr>
            </a:pPr>
            <a:r>
              <a:t>CLUSTERING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D43"/>
                </a:solidFill>
                <a:latin typeface="Aptos Display"/>
              </a:defRPr>
            </a:pPr>
            <a:r>
              <a:t>El clustering agrupó municipios con comportamientos similares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81328"/>
            <a:ext cx="3566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82D43"/>
                </a:solidFill>
              </a:defRPr>
            </a:pPr>
            <a:r>
              <a:t>Agrupación por volumen, gravedad, heridos, fallecidos y vehículos.</a:t>
            </a:r>
          </a:p>
          <a:p>
            <a:pPr>
              <a:spcAft>
                <a:spcPts val="800"/>
              </a:spcAft>
              <a:defRPr sz="1500">
                <a:solidFill>
                  <a:srgbClr val="182D43"/>
                </a:solidFill>
              </a:defRPr>
            </a:pPr>
            <a:r>
              <a:t>Permite diseñar estrategias diferenciadas por municipio.</a:t>
            </a:r>
          </a:p>
        </p:txBody>
      </p:sp>
      <p:pic>
        <p:nvPicPr>
          <p:cNvPr id="7" name="Picture 6" descr="e3_cell_22_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2130656"/>
            <a:ext cx="7178040" cy="3099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744200" y="6437376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76574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0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07E76"/>
                </a:solidFill>
              </a:defRPr>
            </a:pPr>
            <a:r>
              <a:t>PREVENCIÓN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D43"/>
                </a:solidFill>
                <a:latin typeface="Aptos Display"/>
              </a:defRPr>
            </a:pPr>
            <a:r>
              <a:t>Los hallazgos se traducen en acciones preventivas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481328"/>
            <a:ext cx="3566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82D43"/>
                </a:solidFill>
              </a:defRPr>
            </a:pPr>
            <a:r>
              <a:t>Alto volumen: Hermosillo, Sur y Valle, Frontera.</a:t>
            </a:r>
          </a:p>
          <a:p>
            <a:pPr>
              <a:spcAft>
                <a:spcPts val="800"/>
              </a:spcAft>
              <a:defRPr sz="1500">
                <a:solidFill>
                  <a:srgbClr val="182D43"/>
                </a:solidFill>
              </a:defRPr>
            </a:pPr>
            <a:r>
              <a:t>Alta gravedad: Sierra, Centro, Sur y Valle.</a:t>
            </a:r>
          </a:p>
          <a:p>
            <a:pPr>
              <a:spcAft>
                <a:spcPts val="800"/>
              </a:spcAft>
              <a:defRPr sz="1500">
                <a:solidFill>
                  <a:srgbClr val="182D43"/>
                </a:solidFill>
              </a:defRPr>
            </a:pPr>
            <a:r>
              <a:t>Riesgos clave: atropellamientos, motocicletas y viernes por la tarde.</a:t>
            </a:r>
          </a:p>
        </p:txBody>
      </p:sp>
      <p:pic>
        <p:nvPicPr>
          <p:cNvPr id="7" name="Picture 6" descr="matriz_preventi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2439977"/>
            <a:ext cx="7178040" cy="248096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744200" y="6437376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76574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0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07E76"/>
                </a:solidFill>
              </a:defRPr>
            </a:pPr>
            <a:r>
              <a:t>CONCLUSIONES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D43"/>
                </a:solidFill>
                <a:latin typeface="Aptos Display"/>
              </a:defRPr>
            </a:pPr>
            <a:r>
              <a:t>El riesgo vial en Sonora combina volumen y gravedad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9692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82D43"/>
                </a:solidFill>
              </a:defRPr>
            </a:pPr>
            <a:r>
              <a:t>Volumen y severidad no siempre coinciden.</a:t>
            </a:r>
          </a:p>
          <a:p>
            <a:pPr>
              <a:spcAft>
                <a:spcPts val="800"/>
              </a:spcAft>
              <a:defRPr sz="2000">
                <a:solidFill>
                  <a:srgbClr val="182D43"/>
                </a:solidFill>
              </a:defRPr>
            </a:pPr>
            <a:r>
              <a:t>Los modelos confirman señales útiles para prevención.</a:t>
            </a:r>
          </a:p>
          <a:p>
            <a:pPr>
              <a:spcAft>
                <a:spcPts val="800"/>
              </a:spcAft>
              <a:defRPr sz="2000">
                <a:solidFill>
                  <a:srgbClr val="182D43"/>
                </a:solidFill>
              </a:defRPr>
            </a:pPr>
            <a:r>
              <a:t>La minería de datos ayuda a priorizar zonas y condiciones de riesgo.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437376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76574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0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07E76"/>
                </a:solidFill>
              </a:defRPr>
            </a:pPr>
            <a:r>
              <a:t>RECOMENDACIONES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D43"/>
                </a:solidFill>
                <a:latin typeface="Aptos Display"/>
              </a:defRPr>
            </a:pPr>
            <a:r>
              <a:t>Recomendaciones para prevención vial basada en datos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9692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82D43"/>
                </a:solidFill>
              </a:defRPr>
            </a:pPr>
            <a:r>
              <a:t>Priorizar regiones de alto volumen.</a:t>
            </a:r>
          </a:p>
          <a:p>
            <a:pPr>
              <a:spcAft>
                <a:spcPts val="800"/>
              </a:spcAft>
              <a:defRPr sz="2000">
                <a:solidFill>
                  <a:srgbClr val="182D43"/>
                </a:solidFill>
              </a:defRPr>
            </a:pPr>
            <a:r>
              <a:t>Atender zonas con alta gravedad proporcional.</a:t>
            </a:r>
          </a:p>
          <a:p>
            <a:pPr>
              <a:spcAft>
                <a:spcPts val="800"/>
              </a:spcAft>
              <a:defRPr sz="2000">
                <a:solidFill>
                  <a:srgbClr val="182D43"/>
                </a:solidFill>
              </a:defRPr>
            </a:pPr>
            <a:r>
              <a:t>Proteger peatones y motociclistas.</a:t>
            </a:r>
          </a:p>
          <a:p>
            <a:pPr>
              <a:spcAft>
                <a:spcPts val="800"/>
              </a:spcAft>
              <a:defRPr sz="2000">
                <a:solidFill>
                  <a:srgbClr val="182D43"/>
                </a:solidFill>
              </a:defRPr>
            </a:pPr>
            <a:r>
              <a:t>Reforzar acciones viernes por la tarde.</a:t>
            </a:r>
          </a:p>
          <a:p>
            <a:pPr>
              <a:spcAft>
                <a:spcPts val="800"/>
              </a:spcAft>
              <a:defRPr sz="2000">
                <a:solidFill>
                  <a:srgbClr val="182D43"/>
                </a:solidFill>
              </a:defRPr>
            </a:pPr>
            <a:r>
              <a:t>Complementar ATUS con clima, infraestructura y carreteras.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437376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76574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07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207E76"/>
                </a:solidFill>
              </a:defRPr>
            </a:pPr>
            <a:r>
              <a:t>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D43"/>
                </a:solidFill>
                <a:latin typeface="Aptos Display"/>
              </a:defRPr>
            </a:pPr>
            <a:r>
              <a:t>Referencias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9692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82D43"/>
                </a:solidFill>
              </a:defRPr>
            </a:pPr>
            <a:r>
              <a:t>INEGI. Accidentes de Tránsito Terrestre en Zonas Urbanas y Suburbanas (ATUS), 1997-2024.</a:t>
            </a:r>
          </a:p>
          <a:p>
            <a:pPr>
              <a:spcAft>
                <a:spcPts val="800"/>
              </a:spcAft>
              <a:defRPr sz="1600">
                <a:solidFill>
                  <a:srgbClr val="182D43"/>
                </a:solidFill>
              </a:defRPr>
            </a:pPr>
            <a:r>
              <a:t>Pedregosa et al. (2011). Scikit-learn.</a:t>
            </a:r>
          </a:p>
          <a:p>
            <a:pPr>
              <a:spcAft>
                <a:spcPts val="800"/>
              </a:spcAft>
              <a:defRPr sz="1600">
                <a:solidFill>
                  <a:srgbClr val="182D43"/>
                </a:solidFill>
              </a:defRPr>
            </a:pPr>
            <a:r>
              <a:t>McKinney (2010). pandas.</a:t>
            </a:r>
          </a:p>
          <a:p>
            <a:pPr>
              <a:spcAft>
                <a:spcPts val="800"/>
              </a:spcAft>
              <a:defRPr sz="1600">
                <a:solidFill>
                  <a:srgbClr val="182D43"/>
                </a:solidFill>
              </a:defRPr>
            </a:pPr>
            <a:r>
              <a:t>Hunter (2007). matplotlib.</a:t>
            </a:r>
          </a:p>
          <a:p>
            <a:pPr>
              <a:spcAft>
                <a:spcPts val="800"/>
              </a:spcAft>
              <a:defRPr sz="1600">
                <a:solidFill>
                  <a:srgbClr val="182D43"/>
                </a:solidFill>
              </a:defRPr>
            </a:pPr>
            <a:r>
              <a:t>Waskom (2021). seaborn.</a:t>
            </a:r>
          </a:p>
          <a:p>
            <a:pPr>
              <a:spcAft>
                <a:spcPts val="800"/>
              </a:spcAft>
              <a:defRPr sz="1600">
                <a:solidFill>
                  <a:srgbClr val="182D43"/>
                </a:solidFill>
              </a:defRPr>
            </a:pPr>
            <a:r>
              <a:t>Notebooks E2 y E3 del proyecto.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437376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76574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