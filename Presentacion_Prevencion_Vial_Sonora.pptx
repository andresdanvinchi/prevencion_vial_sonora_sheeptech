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PORTADA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Análisis de accidentes de tránsito en Sonora para identificar patrones de riesgo vial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20240"/>
            <a:ext cx="6217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82D43"/>
                </a:solidFill>
              </a:defRPr>
            </a:pPr>
            <a:r>
              <a:t>Minería de Datos</a:t>
            </a:r>
          </a:p>
          <a:p>
            <a:pPr>
              <a:spcAft>
                <a:spcPts val="800"/>
              </a:spcAft>
              <a:defRPr sz="2000">
                <a:solidFill>
                  <a:srgbClr val="182D43"/>
                </a:solidFill>
              </a:defRPr>
            </a:pPr>
            <a:r>
              <a:t>ATUS INEGI 2015-2024</a:t>
            </a:r>
          </a:p>
          <a:p>
            <a:pPr>
              <a:spcAft>
                <a:spcPts val="800"/>
              </a:spcAft>
              <a:defRPr sz="2000">
                <a:solidFill>
                  <a:srgbClr val="182D43"/>
                </a:solidFill>
              </a:defRPr>
            </a:pPr>
            <a:r>
              <a:t>Enfoque preventivo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5212080"/>
            <a:ext cx="2240280" cy="658368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2015-2024</a:t>
            </a:r>
          </a:p>
          <a:p>
            <a:pPr algn="ctr">
              <a:defRPr sz="850">
                <a:solidFill>
                  <a:srgbClr val="FFFFFF"/>
                </a:solidFill>
              </a:defRPr>
            </a:pPr>
            <a:r>
              <a:t>periodo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81528" y="5212080"/>
            <a:ext cx="2240280" cy="658368"/>
          </a:xfrm>
          <a:prstGeom prst="rect">
            <a:avLst/>
          </a:prstGeom>
          <a:solidFill>
            <a:srgbClr val="18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183,911</a:t>
            </a:r>
          </a:p>
          <a:p>
            <a:pPr algn="ctr">
              <a:defRPr sz="850">
                <a:solidFill>
                  <a:srgbClr val="FFFFFF"/>
                </a:solidFill>
              </a:defRPr>
            </a:pPr>
            <a:r>
              <a:t>accidentes reales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504688" y="5212080"/>
            <a:ext cx="2240280" cy="658368"/>
          </a:xfrm>
          <a:prstGeom prst="rect">
            <a:avLst/>
          </a:prstGeom>
          <a:solidFill>
            <a:srgbClr val="D8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Sonora</a:t>
            </a:r>
          </a:p>
          <a:p>
            <a:pPr algn="ctr">
              <a:defRPr sz="850">
                <a:solidFill>
                  <a:srgbClr val="FFFFFF"/>
                </a:solidFill>
              </a:defRPr>
            </a:pPr>
            <a:r>
              <a:t>entidad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Los accidentes viales tienen patrones que pueden analizarse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9692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D43"/>
                </a:solidFill>
              </a:defRPr>
            </a:pPr>
            <a:r>
              <a:t>Generan daños materiales, lesiones y muertes.</a:t>
            </a:r>
          </a:p>
          <a:p>
            <a:pPr>
              <a:spcAft>
                <a:spcPts val="800"/>
              </a:spcAft>
              <a:defRPr sz="1600">
                <a:solidFill>
                  <a:srgbClr val="182D43"/>
                </a:solidFill>
              </a:defRPr>
            </a:pPr>
            <a:r>
              <a:t>El riesgo no se distribuye igual entre regiones y municipios.</a:t>
            </a:r>
          </a:p>
          <a:p>
            <a:pPr>
              <a:spcAft>
                <a:spcPts val="800"/>
              </a:spcAft>
              <a:defRPr sz="1600">
                <a:solidFill>
                  <a:srgbClr val="182D43"/>
                </a:solidFill>
              </a:defRPr>
            </a:pPr>
            <a:r>
              <a:t>Analizar solo el total estatal puede ocultar focos de gravedad.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¿Qué patrones explican el riesgo vial en Sonora?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Identificar patrones de frecuencia, gravedad, causa, horario y municipio.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Usar minería de datos para orientar prevención vial.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Se utilizaron datos ATUS de INEGI 2015-2024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Fuente oficial: Accidentes de Tránsito Terrestre en Zonas Urbanas y Suburbanas.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Filtro: Sonora, clave de entidad 26.</a:t>
            </a:r>
          </a:p>
        </p:txBody>
      </p:sp>
      <p:pic>
        <p:nvPicPr>
          <p:cNvPr id="7" name="Picture 6" descr="dataset_resu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540172"/>
            <a:ext cx="7178040" cy="42805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PREPARACIÓN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Antes de analizar, los datos se limpiaron y prepararon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Unión de archivos anuales.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Filtro estatal y eliminación de 'Certificado cero'.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Normalización de claves, fechas y variables numéricas.</a:t>
            </a:r>
          </a:p>
        </p:txBody>
      </p:sp>
      <p:pic>
        <p:nvPicPr>
          <p:cNvPr id="7" name="Picture 6" descr="limpieza_fluj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901632"/>
            <a:ext cx="7178040" cy="35576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Se crearon variables para medir riesgo y gravedad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La gravedad se definió por heridos o fallecidos.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Las regiones permitieron comparar zonas con movilidad distinta.</a:t>
            </a:r>
          </a:p>
        </p:txBody>
      </p:sp>
      <p:pic>
        <p:nvPicPr>
          <p:cNvPr id="7" name="Picture 6" descr="variables_cre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194339"/>
            <a:ext cx="7178040" cy="29722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El análisis exploratorio mostró volumen, gravedad y causas dominantes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Dataset final: 183,911 accidentes.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16.99% presentan heridos o fallecidos.</a:t>
            </a:r>
          </a:p>
        </p:txBody>
      </p:sp>
      <p:pic>
        <p:nvPicPr>
          <p:cNvPr id="7" name="Picture 6" descr="eda_general_con_grave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08465"/>
            <a:ext cx="7178040" cy="41439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REGIONES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Hermosillo concentra más accidentes, pero la gravedad cambia por región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Hermosillo: mayor volumen.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Sur y Valle y Frontera también concentran muchos casos.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Sierra: mayor porcentaje de accidentes graves.</a:t>
            </a:r>
          </a:p>
        </p:txBody>
      </p:sp>
      <p:pic>
        <p:nvPicPr>
          <p:cNvPr id="7" name="Picture 6" descr="region_municipio_ries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078077"/>
            <a:ext cx="7178040" cy="32047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TIPO Y CAUSA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La colisión con vehículo automotor domina el registro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Tipo más común: colisión con vehículo automotor.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Causa probable más frecuente: Conductor.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La prevención debe mirar conducta vial y puntos de conflicto.</a:t>
            </a:r>
          </a:p>
        </p:txBody>
      </p:sp>
      <p:pic>
        <p:nvPicPr>
          <p:cNvPr id="7" name="Picture 6" descr="tipo_causa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143216"/>
            <a:ext cx="7178040" cy="30744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TIEMPO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La tarde concentra el riesgo, con viernes como franja crítica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La tarde es la franja con mayor concentración de accidentes.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Viernes por la tarde aparece como horario crítico: 10,802 accidentes.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La serie mensual muestra aumento posterior a 2020.</a:t>
            </a:r>
          </a:p>
        </p:txBody>
      </p:sp>
      <p:pic>
        <p:nvPicPr>
          <p:cNvPr id="7" name="Picture 6" descr="main_cell_51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090" y="1161288"/>
            <a:ext cx="4712659" cy="1901952"/>
          </a:xfrm>
          <a:prstGeom prst="rect">
            <a:avLst/>
          </a:prstGeom>
        </p:spPr>
      </p:pic>
      <p:pic>
        <p:nvPicPr>
          <p:cNvPr id="8" name="Picture 7" descr="main_cell_23_img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330" y="3182112"/>
            <a:ext cx="6328179" cy="2697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5440680"/>
            <a:ext cx="3063240" cy="530352"/>
          </a:xfrm>
          <a:prstGeom prst="roundRect">
            <a:avLst/>
          </a:prstGeom>
          <a:solidFill>
            <a:srgbClr val="D8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Viernes tarde: 10,802 accidentes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ESTADÍSTICA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Las variables categóricas sí muestran asociación estadística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Chi-cuadrada detectó dependencia entre variables.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Cramér’s V ayudó a medir la fuerza de asociación.</a:t>
            </a:r>
          </a:p>
        </p:txBody>
      </p:sp>
      <p:pic>
        <p:nvPicPr>
          <p:cNvPr id="7" name="Picture 6" descr="chi_cramer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258933"/>
            <a:ext cx="7178040" cy="28430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APRIORI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Los atropellamientos se asocian fuertemente con gravedad alta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Las reglas de asociación señalaron combinaciones de alto riesgo.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El hallazgo tiene utilidad directa para proteger peatones.</a:t>
            </a:r>
          </a:p>
        </p:txBody>
      </p:sp>
      <p:pic>
        <p:nvPicPr>
          <p:cNvPr id="7" name="Picture 6" descr="apriori_reg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457887"/>
            <a:ext cx="7178040" cy="244514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5166360"/>
            <a:ext cx="3017520" cy="530352"/>
          </a:xfrm>
          <a:prstGeom prst="roundRect">
            <a:avLst/>
          </a:prstGeom>
          <a:solidFill>
            <a:srgbClr val="D8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Atropellamiento -&gt; gravedad alta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Se entrenaron modelos para clasificar accidentes graves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Objetivo: GRAVE_BIN.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Modelos: Árbol de Decisión, Regresión Logística y Random Forest.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Se evitó fuga de información.</a:t>
            </a:r>
          </a:p>
        </p:txBody>
      </p:sp>
      <p:pic>
        <p:nvPicPr>
          <p:cNvPr id="7" name="Picture 6" descr="modelos_pipeline_grave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118526"/>
            <a:ext cx="7178040" cy="31238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COMPARACIÓN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Random Forest logró el mejor equilibrio para gravedad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F1 grave: 0.6298.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ROC-AUC: 0.8911.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Regresión Logística tuvo mayor recall grave.</a:t>
            </a:r>
          </a:p>
        </p:txBody>
      </p:sp>
      <p:pic>
        <p:nvPicPr>
          <p:cNvPr id="7" name="Picture 6" descr="modelos_compa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457887"/>
            <a:ext cx="7178040" cy="24451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IMPORTANCIA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El tipo de accidente fue una señal clave para el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Variables importantes: tipo de accidente, atropellamiento, motocicleta, vehículos, edad y región.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La importancia orienta acciones preventivas.</a:t>
            </a:r>
          </a:p>
        </p:txBody>
      </p:sp>
      <p:pic>
        <p:nvPicPr>
          <p:cNvPr id="7" name="Picture 6" descr="e3_cell_20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415" y="1234440"/>
            <a:ext cx="6140009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El clustering agrupó municipios con comportamientos similares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Agrupación por volumen, gravedad, heridos, fallecidos y vehículos.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Permite diseñar estrategias diferenciadas por municipio.</a:t>
            </a:r>
          </a:p>
        </p:txBody>
      </p:sp>
      <p:pic>
        <p:nvPicPr>
          <p:cNvPr id="7" name="Picture 6" descr="e3_cell_22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130656"/>
            <a:ext cx="7178040" cy="3099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PREVENCIÓN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Los hallazgos se traducen en acciones preventivas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Alto volumen: Hermosillo, Sur y Valle, Frontera.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Alta gravedad: Sierra, Centro, Sur y Valle.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Riesgos clave: atropellamientos, motocicletas y viernes por la tarde.</a:t>
            </a:r>
          </a:p>
        </p:txBody>
      </p:sp>
      <p:pic>
        <p:nvPicPr>
          <p:cNvPr id="7" name="Picture 6" descr="matriz_prevent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439977"/>
            <a:ext cx="7178040" cy="24809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El riesgo vial en Sonora combina volumen y gravedad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9692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82D43"/>
                </a:solidFill>
              </a:defRPr>
            </a:pPr>
            <a:r>
              <a:t>Volumen y severidad no siempre coinciden.</a:t>
            </a:r>
          </a:p>
          <a:p>
            <a:pPr>
              <a:spcAft>
                <a:spcPts val="800"/>
              </a:spcAft>
              <a:defRPr sz="2000">
                <a:solidFill>
                  <a:srgbClr val="182D43"/>
                </a:solidFill>
              </a:defRPr>
            </a:pPr>
            <a:r>
              <a:t>Los modelos confirman señales útiles para prevención.</a:t>
            </a:r>
          </a:p>
          <a:p>
            <a:pPr>
              <a:spcAft>
                <a:spcPts val="800"/>
              </a:spcAft>
              <a:defRPr sz="2000">
                <a:solidFill>
                  <a:srgbClr val="182D43"/>
                </a:solidFill>
              </a:defRPr>
            </a:pPr>
            <a:r>
              <a:t>La minería de datos ayuda a priorizar zonas y condiciones de riesgo.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RECOMENDACIONES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Recomendaciones para prevención vial basada en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9692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82D43"/>
                </a:solidFill>
              </a:defRPr>
            </a:pPr>
            <a:r>
              <a:t>Priorizar regiones de alto volumen.</a:t>
            </a:r>
          </a:p>
          <a:p>
            <a:pPr>
              <a:spcAft>
                <a:spcPts val="800"/>
              </a:spcAft>
              <a:defRPr sz="2000">
                <a:solidFill>
                  <a:srgbClr val="182D43"/>
                </a:solidFill>
              </a:defRPr>
            </a:pPr>
            <a:r>
              <a:t>Atender zonas con alta gravedad proporcional.</a:t>
            </a:r>
          </a:p>
          <a:p>
            <a:pPr>
              <a:spcAft>
                <a:spcPts val="800"/>
              </a:spcAft>
              <a:defRPr sz="2000">
                <a:solidFill>
                  <a:srgbClr val="182D43"/>
                </a:solidFill>
              </a:defRPr>
            </a:pPr>
            <a:r>
              <a:t>Proteger peatones y motociclistas.</a:t>
            </a:r>
          </a:p>
          <a:p>
            <a:pPr>
              <a:spcAft>
                <a:spcPts val="800"/>
              </a:spcAft>
              <a:defRPr sz="2000">
                <a:solidFill>
                  <a:srgbClr val="182D43"/>
                </a:solidFill>
              </a:defRPr>
            </a:pPr>
            <a:r>
              <a:t>Reforzar acciones viernes por la tarde.</a:t>
            </a:r>
          </a:p>
          <a:p>
            <a:pPr>
              <a:spcAft>
                <a:spcPts val="800"/>
              </a:spcAft>
              <a:defRPr sz="2000">
                <a:solidFill>
                  <a:srgbClr val="182D43"/>
                </a:solidFill>
              </a:defRPr>
            </a:pPr>
            <a:r>
              <a:t>Complementar ATUS con clima, infraestructura y carreteras.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Referencias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9692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D43"/>
                </a:solidFill>
              </a:defRPr>
            </a:pPr>
            <a:r>
              <a:t>INEGI. Accidentes de Tránsito Terrestre en Zonas Urbanas y Suburbanas (ATUS), 1997-2024.</a:t>
            </a:r>
          </a:p>
          <a:p>
            <a:pPr>
              <a:spcAft>
                <a:spcPts val="800"/>
              </a:spcAft>
              <a:defRPr sz="1600">
                <a:solidFill>
                  <a:srgbClr val="182D43"/>
                </a:solidFill>
              </a:defRPr>
            </a:pPr>
            <a:r>
              <a:t>Pedregosa et al. (2011). Scikit-learn.</a:t>
            </a:r>
          </a:p>
          <a:p>
            <a:pPr>
              <a:spcAft>
                <a:spcPts val="800"/>
              </a:spcAft>
              <a:defRPr sz="1600">
                <a:solidFill>
                  <a:srgbClr val="182D43"/>
                </a:solidFill>
              </a:defRPr>
            </a:pPr>
            <a:r>
              <a:t>McKinney (2010). pandas.</a:t>
            </a:r>
          </a:p>
          <a:p>
            <a:pPr>
              <a:spcAft>
                <a:spcPts val="800"/>
              </a:spcAft>
              <a:defRPr sz="1600">
                <a:solidFill>
                  <a:srgbClr val="182D43"/>
                </a:solidFill>
              </a:defRPr>
            </a:pPr>
            <a:r>
              <a:t>Hunter (2007). matplotlib.</a:t>
            </a:r>
          </a:p>
          <a:p>
            <a:pPr>
              <a:spcAft>
                <a:spcPts val="800"/>
              </a:spcAft>
              <a:defRPr sz="1600">
                <a:solidFill>
                  <a:srgbClr val="182D43"/>
                </a:solidFill>
              </a:defRPr>
            </a:pPr>
            <a:r>
              <a:t>Waskom (2021). seaborn.</a:t>
            </a:r>
          </a:p>
          <a:p>
            <a:pPr>
              <a:spcAft>
                <a:spcPts val="800"/>
              </a:spcAft>
              <a:defRPr sz="1600">
                <a:solidFill>
                  <a:srgbClr val="182D43"/>
                </a:solidFill>
              </a:defRPr>
            </a:pPr>
            <a:r>
              <a:t>Notebooks E2 y E3 del proyecto.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